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Disease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D166"/>
              </a:solidFill>
              <a:effectLst/>
            </c:spPr>
          </c:dPt>
          <c:dPt>
            <c:idx val="1"/>
            <c:bubble3D val="0"/>
            <c:spPr>
              <a:solidFill>
                <a:srgbClr val="A3E635"/>
              </a:solidFill>
              <a:effectLst/>
            </c:spPr>
          </c:dPt>
          <c:dPt>
            <c:idx val="2"/>
            <c:bubble3D val="0"/>
            <c:spPr>
              <a:solidFill>
                <a:srgbClr val="FF6B6B"/>
              </a:solidFill>
              <a:effectLst/>
            </c:spPr>
          </c:dPt>
          <c:dPt>
            <c:idx val="3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Fungal</c:v>
                </c:pt>
                <c:pt idx="1">
                  <c:v>Healthy</c:v>
                </c:pt>
                <c:pt idx="2">
                  <c:v>Bacterial</c:v>
                </c:pt>
                <c:pt idx="3">
                  <c:v>Viral</c:v>
                </c:pt>
                <c:pt idx="4">
                  <c:v>Pest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00E5A0">
              <a:alpha val="12000"/>
            </a:srgbClr>
          </a:solidFill>
          <a:ln w="1905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548640"/>
            <a:ext cx="2377440" cy="2377440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0E5A0">
              <a:alpha val="22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COMPUTER VISION · DEEP LEARNING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Plant Disease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Dashboard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leaf image · Get instant disease diagnosis · Receive treatment &amp; prevention tips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Inference  ·  Instant Diagnosis  ·  Treatment Ready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3218688"/>
            <a:ext cx="1664208" cy="1463040"/>
          </a:xfrm>
          <a:prstGeom prst="roundRect">
            <a:avLst>
              <a:gd name="adj" fmla="val 750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310128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47472" y="3657600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47472" y="41696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157984" y="3218688"/>
            <a:ext cx="1664208" cy="1463040"/>
          </a:xfrm>
          <a:prstGeom prst="roundRect">
            <a:avLst>
              <a:gd name="adj" fmla="val 750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331012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57984" y="3657600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95%+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2157984" y="41696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968496" y="3218688"/>
            <a:ext cx="1664208" cy="1463040"/>
          </a:xfrm>
          <a:prstGeom prst="roundRect">
            <a:avLst>
              <a:gd name="adj" fmla="val 750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331012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68496" y="3657600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3968496" y="41696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Types Covered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035040" y="1051560"/>
            <a:ext cx="2834640" cy="3474720"/>
          </a:xfrm>
          <a:prstGeom prst="roundRect">
            <a:avLst>
              <a:gd name="adj" fmla="val 4516"/>
            </a:avLst>
          </a:prstGeom>
          <a:solidFill>
            <a:srgbClr val="1E1E1E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35040" y="1051560"/>
            <a:ext cx="2834640" cy="292608"/>
          </a:xfrm>
          <a:prstGeom prst="roundRect">
            <a:avLst>
              <a:gd name="adj" fmla="val 43750"/>
            </a:avLst>
          </a:prstGeom>
          <a:solidFill>
            <a:srgbClr val="2E2E2E"/>
          </a:solidFill>
          <a:ln/>
        </p:spPr>
      </p:sp>
      <p:sp>
        <p:nvSpPr>
          <p:cNvPr id="24" name="Shape 19"/>
          <p:cNvSpPr/>
          <p:nvPr/>
        </p:nvSpPr>
        <p:spPr>
          <a:xfrm>
            <a:off x="6199632" y="111556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19088" y="111556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638544" y="111556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053328" y="138988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AI Plant Disease Detection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080760" y="1682496"/>
            <a:ext cx="27432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172200" y="1737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A2A1A"/>
          </a:solidFill>
          <a:ln w="9525">
            <a:solidFill>
              <a:srgbClr val="00E5A0"/>
            </a:solidFill>
            <a:prstDash val="dash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828800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172200" y="21031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Leaf Image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6172200" y="23042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· JPEG · PNG</a:t>
            </a:r>
            <a:endParaRPr lang="en-US" sz="750" dirty="0"/>
          </a:p>
        </p:txBody>
      </p:sp>
      <p:sp>
        <p:nvSpPr>
          <p:cNvPr id="33" name="Shape 27"/>
          <p:cNvSpPr/>
          <p:nvPr/>
        </p:nvSpPr>
        <p:spPr>
          <a:xfrm>
            <a:off x="6172200" y="2788920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1C3A2A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199632" y="2816352"/>
            <a:ext cx="2596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Tomato Early Blight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6199632" y="2990088"/>
            <a:ext cx="25968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94.3%</a:t>
            </a:r>
            <a:endParaRPr lang="en-US" sz="700" dirty="0"/>
          </a:p>
        </p:txBody>
      </p:sp>
      <p:sp>
        <p:nvSpPr>
          <p:cNvPr id="36" name="Shape 30"/>
          <p:cNvSpPr/>
          <p:nvPr/>
        </p:nvSpPr>
        <p:spPr>
          <a:xfrm>
            <a:off x="6172200" y="3218688"/>
            <a:ext cx="2651760" cy="100584"/>
          </a:xfrm>
          <a:prstGeom prst="roundRect">
            <a:avLst>
              <a:gd name="adj" fmla="val 45455"/>
            </a:avLst>
          </a:prstGeom>
          <a:solidFill>
            <a:srgbClr val="1A1A1A"/>
          </a:solidFill>
          <a:ln/>
        </p:spPr>
      </p:sp>
      <p:sp>
        <p:nvSpPr>
          <p:cNvPr id="37" name="Shape 31"/>
          <p:cNvSpPr/>
          <p:nvPr/>
        </p:nvSpPr>
        <p:spPr>
          <a:xfrm>
            <a:off x="6172200" y="3218688"/>
            <a:ext cx="2496312" cy="100584"/>
          </a:xfrm>
          <a:prstGeom prst="roundRect">
            <a:avLst>
              <a:gd name="adj" fmla="val 45455"/>
            </a:avLst>
          </a:prstGeom>
          <a:solidFill>
            <a:srgbClr val="00E5A0"/>
          </a:solidFill>
          <a:ln/>
        </p:spPr>
      </p:sp>
      <p:sp>
        <p:nvSpPr>
          <p:cNvPr id="38" name="Text 32"/>
          <p:cNvSpPr/>
          <p:nvPr/>
        </p:nvSpPr>
        <p:spPr>
          <a:xfrm>
            <a:off x="6172200" y="338328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&amp; Prevention Available ✓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6172200" y="4160520"/>
            <a:ext cx="804672" cy="219456"/>
          </a:xfrm>
          <a:prstGeom prst="roundRect">
            <a:avLst>
              <a:gd name="adj" fmla="val 25000"/>
            </a:avLst>
          </a:prstGeom>
          <a:solidFill>
            <a:srgbClr val="1C2A1C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172200" y="4160520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7059168" y="4160520"/>
            <a:ext cx="804672" cy="219456"/>
          </a:xfrm>
          <a:prstGeom prst="roundRect">
            <a:avLst>
              <a:gd name="adj" fmla="val 25000"/>
            </a:avLst>
          </a:prstGeom>
          <a:solidFill>
            <a:srgbClr val="1C2A1C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059168" y="4160520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</a:t>
            </a:r>
            <a:endParaRPr lang="en-US" sz="700" dirty="0"/>
          </a:p>
        </p:txBody>
      </p:sp>
      <p:sp>
        <p:nvSpPr>
          <p:cNvPr id="43" name="Shape 37"/>
          <p:cNvSpPr/>
          <p:nvPr/>
        </p:nvSpPr>
        <p:spPr>
          <a:xfrm>
            <a:off x="7946136" y="4160520"/>
            <a:ext cx="804672" cy="219456"/>
          </a:xfrm>
          <a:prstGeom prst="roundRect">
            <a:avLst>
              <a:gd name="adj" fmla="val 25000"/>
            </a:avLst>
          </a:prstGeom>
          <a:solidFill>
            <a:srgbClr val="1C2A1C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946136" y="4160520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1645920" cy="274320"/>
          </a:xfrm>
          <a:prstGeom prst="roundRect">
            <a:avLst>
              <a:gd name="adj" fmla="val 23333"/>
            </a:avLst>
          </a:prstGeom>
          <a:solidFill>
            <a:srgbClr val="00B4D8">
              <a:alpha val="2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5-Step AI Pipeline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leaf image to diagnosis in milliseconds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69164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83080"/>
            <a:ext cx="365760" cy="365760"/>
          </a:xfrm>
          <a:prstGeom prst="ellipse">
            <a:avLst/>
          </a:prstGeom>
          <a:solidFill>
            <a:srgbClr val="00E5A0">
              <a:alpha val="7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78308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7373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417320" y="19659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JPG/PNG leaf photo via Streamlit file uploader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7512" y="2240280"/>
            <a:ext cx="0" cy="91440"/>
          </a:xfrm>
          <a:prstGeom prst="line">
            <a:avLst/>
          </a:prstGeom>
          <a:noFill/>
          <a:ln w="15240">
            <a:solidFill>
              <a:srgbClr val="00E5A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84048" y="233172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" y="2423160"/>
            <a:ext cx="365760" cy="365760"/>
          </a:xfrm>
          <a:prstGeom prst="ellipse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423160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7320" y="23774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417320" y="26060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224×224, normalize pixels (÷255), expand batch dims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67512" y="2880360"/>
            <a:ext cx="0" cy="9144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84048" y="297180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2920" y="3063240"/>
            <a:ext cx="365760" cy="365760"/>
          </a:xfrm>
          <a:prstGeom prst="ellipse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063240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30175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Inference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417320" y="324612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VGG16-based model predicts across 15 disease classes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67512" y="3520440"/>
            <a:ext cx="0" cy="9144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384048" y="361188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02920" y="3703320"/>
            <a:ext cx="365760" cy="365760"/>
          </a:xfrm>
          <a:prstGeom prst="ellipse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0292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703320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17320" y="3657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Identified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417320" y="38862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class + confidence score extracted via argmax &amp; softmax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667512" y="4160520"/>
            <a:ext cx="0" cy="91440"/>
          </a:xfrm>
          <a:prstGeom prst="line">
            <a:avLst/>
          </a:prstGeom>
          <a:noFill/>
          <a:ln w="15240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384048" y="425196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502920" y="4343400"/>
            <a:ext cx="365760" cy="365760"/>
          </a:xfrm>
          <a:prstGeom prst="ellipse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029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343400"/>
            <a:ext cx="347472" cy="34747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417320" y="42976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Delivered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1417320" y="45262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treatment &amp; prevention tips returned to dashboard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4892040" y="25603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Preview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4892040" y="685800"/>
            <a:ext cx="1938528" cy="4114800"/>
          </a:xfrm>
          <a:prstGeom prst="roundRect">
            <a:avLst>
              <a:gd name="adj" fmla="val 5660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4919472" y="74980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Image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5010912" y="987552"/>
            <a:ext cx="1719072" cy="1417320"/>
          </a:xfrm>
          <a:prstGeom prst="roundRect">
            <a:avLst>
              <a:gd name="adj" fmla="val 5161"/>
            </a:avLst>
          </a:prstGeom>
          <a:solidFill>
            <a:srgbClr val="1A2E1A"/>
          </a:solidFill>
          <a:ln w="6350">
            <a:solidFill>
              <a:srgbClr val="00E5A0"/>
            </a:solidFill>
            <a:prstDash val="sysDash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92" y="1261872"/>
            <a:ext cx="420624" cy="42062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010912" y="170078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Image</a:t>
            </a:r>
            <a:endParaRPr lang="en-US" sz="750" dirty="0"/>
          </a:p>
        </p:txBody>
      </p:sp>
      <p:sp>
        <p:nvSpPr>
          <p:cNvPr id="47" name="Shape 39"/>
          <p:cNvSpPr/>
          <p:nvPr/>
        </p:nvSpPr>
        <p:spPr>
          <a:xfrm>
            <a:off x="5010912" y="2487168"/>
            <a:ext cx="1719072" cy="493776"/>
          </a:xfrm>
          <a:prstGeom prst="roundRect">
            <a:avLst>
              <a:gd name="adj" fmla="val 14815"/>
            </a:avLst>
          </a:prstGeom>
          <a:solidFill>
            <a:srgbClr val="1C2A1C"/>
          </a:solidFill>
          <a:ln w="7620">
            <a:solidFill>
              <a:srgbClr val="00E5A0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5029200" y="2505456"/>
            <a:ext cx="16824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Disease</a:t>
            </a:r>
            <a:endParaRPr lang="en-US" sz="700" dirty="0"/>
          </a:p>
        </p:txBody>
      </p:sp>
      <p:sp>
        <p:nvSpPr>
          <p:cNvPr id="49" name="Text 41"/>
          <p:cNvSpPr/>
          <p:nvPr/>
        </p:nvSpPr>
        <p:spPr>
          <a:xfrm>
            <a:off x="5029200" y="2679192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Early Blight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5010912" y="3063240"/>
            <a:ext cx="1719072" cy="493776"/>
          </a:xfrm>
          <a:prstGeom prst="roundRect">
            <a:avLst>
              <a:gd name="adj" fmla="val 14815"/>
            </a:avLst>
          </a:prstGeom>
          <a:solidFill>
            <a:srgbClr val="1C2A1C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5029200" y="3081528"/>
            <a:ext cx="16824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700" dirty="0"/>
          </a:p>
        </p:txBody>
      </p:sp>
      <p:sp>
        <p:nvSpPr>
          <p:cNvPr id="52" name="Text 44"/>
          <p:cNvSpPr/>
          <p:nvPr/>
        </p:nvSpPr>
        <p:spPr>
          <a:xfrm>
            <a:off x="5029200" y="325526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94.3%</a:t>
            </a:r>
            <a:endParaRPr lang="en-US" sz="1800" dirty="0"/>
          </a:p>
        </p:txBody>
      </p:sp>
      <p:sp>
        <p:nvSpPr>
          <p:cNvPr id="53" name="Shape 45"/>
          <p:cNvSpPr/>
          <p:nvPr/>
        </p:nvSpPr>
        <p:spPr>
          <a:xfrm>
            <a:off x="5010912" y="3639312"/>
            <a:ext cx="1719072" cy="91440"/>
          </a:xfrm>
          <a:prstGeom prst="roundRect">
            <a:avLst>
              <a:gd name="adj" fmla="val 40000"/>
            </a:avLst>
          </a:prstGeom>
          <a:solidFill>
            <a:srgbClr val="333333"/>
          </a:solidFill>
          <a:ln/>
        </p:spPr>
      </p:sp>
      <p:sp>
        <p:nvSpPr>
          <p:cNvPr id="54" name="Shape 46"/>
          <p:cNvSpPr/>
          <p:nvPr/>
        </p:nvSpPr>
        <p:spPr>
          <a:xfrm>
            <a:off x="5010912" y="3639312"/>
            <a:ext cx="1618488" cy="91440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/>
        </p:spPr>
      </p:sp>
      <p:sp>
        <p:nvSpPr>
          <p:cNvPr id="55" name="Shape 47"/>
          <p:cNvSpPr/>
          <p:nvPr/>
        </p:nvSpPr>
        <p:spPr>
          <a:xfrm>
            <a:off x="5010912" y="3794760"/>
            <a:ext cx="1719072" cy="237744"/>
          </a:xfrm>
          <a:prstGeom prst="roundRect">
            <a:avLst>
              <a:gd name="adj" fmla="val 23077"/>
            </a:avLst>
          </a:prstGeom>
          <a:solidFill>
            <a:srgbClr val="1A3A2A"/>
          </a:solidFill>
          <a:ln/>
        </p:spPr>
      </p:sp>
      <p:sp>
        <p:nvSpPr>
          <p:cNvPr id="56" name="Text 48"/>
          <p:cNvSpPr/>
          <p:nvPr/>
        </p:nvSpPr>
        <p:spPr>
          <a:xfrm>
            <a:off x="5010912" y="3794760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 Confidence Prediction</a:t>
            </a:r>
            <a:endParaRPr lang="en-US" sz="750" dirty="0"/>
          </a:p>
        </p:txBody>
      </p:sp>
      <p:sp>
        <p:nvSpPr>
          <p:cNvPr id="57" name="Text 49"/>
          <p:cNvSpPr/>
          <p:nvPr/>
        </p:nvSpPr>
        <p:spPr>
          <a:xfrm>
            <a:off x="5010912" y="409651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Predictions</a:t>
            </a:r>
            <a:endParaRPr lang="en-US" sz="800" dirty="0"/>
          </a:p>
        </p:txBody>
      </p:sp>
      <p:sp>
        <p:nvSpPr>
          <p:cNvPr id="58" name="Text 50"/>
          <p:cNvSpPr/>
          <p:nvPr/>
        </p:nvSpPr>
        <p:spPr>
          <a:xfrm>
            <a:off x="5029200" y="4343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</a:t>
            </a:r>
            <a:endParaRPr lang="en-US" sz="700" dirty="0"/>
          </a:p>
        </p:txBody>
      </p:sp>
      <p:sp>
        <p:nvSpPr>
          <p:cNvPr id="59" name="Shape 51"/>
          <p:cNvSpPr/>
          <p:nvPr/>
        </p:nvSpPr>
        <p:spPr>
          <a:xfrm>
            <a:off x="5806440" y="4370832"/>
            <a:ext cx="822960" cy="109728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/>
        </p:spPr>
      </p:sp>
      <p:sp>
        <p:nvSpPr>
          <p:cNvPr id="60" name="Shape 52"/>
          <p:cNvSpPr/>
          <p:nvPr/>
        </p:nvSpPr>
        <p:spPr>
          <a:xfrm>
            <a:off x="5806440" y="4370832"/>
            <a:ext cx="776051" cy="109728"/>
          </a:xfrm>
          <a:prstGeom prst="roundRect">
            <a:avLst>
              <a:gd name="adj" fmla="val 33333"/>
            </a:avLst>
          </a:prstGeom>
          <a:solidFill>
            <a:srgbClr val="00E5A0"/>
          </a:solidFill>
          <a:ln/>
        </p:spPr>
      </p:sp>
      <p:sp>
        <p:nvSpPr>
          <p:cNvPr id="61" name="Text 53"/>
          <p:cNvSpPr/>
          <p:nvPr/>
        </p:nvSpPr>
        <p:spPr>
          <a:xfrm>
            <a:off x="5029200" y="45537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Septoria Spo</a:t>
            </a:r>
            <a:endParaRPr lang="en-US" sz="700" dirty="0"/>
          </a:p>
        </p:txBody>
      </p:sp>
      <p:sp>
        <p:nvSpPr>
          <p:cNvPr id="62" name="Shape 54"/>
          <p:cNvSpPr/>
          <p:nvPr/>
        </p:nvSpPr>
        <p:spPr>
          <a:xfrm>
            <a:off x="5806440" y="4581144"/>
            <a:ext cx="822960" cy="109728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/>
        </p:spPr>
      </p:sp>
      <p:sp>
        <p:nvSpPr>
          <p:cNvPr id="63" name="Shape 55"/>
          <p:cNvSpPr/>
          <p:nvPr/>
        </p:nvSpPr>
        <p:spPr>
          <a:xfrm>
            <a:off x="5806440" y="4581144"/>
            <a:ext cx="25512" cy="109728"/>
          </a:xfrm>
          <a:prstGeom prst="roundRect">
            <a:avLst>
              <a:gd name="adj" fmla="val 143368"/>
            </a:avLst>
          </a:prstGeom>
          <a:solidFill>
            <a:srgbClr val="00B4D8"/>
          </a:solidFill>
          <a:ln/>
        </p:spPr>
      </p:sp>
      <p:sp>
        <p:nvSpPr>
          <p:cNvPr id="64" name="Text 56"/>
          <p:cNvSpPr/>
          <p:nvPr/>
        </p:nvSpPr>
        <p:spPr>
          <a:xfrm>
            <a:off x="5029200" y="476402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Mold</a:t>
            </a:r>
            <a:endParaRPr lang="en-US" sz="700" dirty="0"/>
          </a:p>
        </p:txBody>
      </p:sp>
      <p:sp>
        <p:nvSpPr>
          <p:cNvPr id="65" name="Shape 57"/>
          <p:cNvSpPr/>
          <p:nvPr/>
        </p:nvSpPr>
        <p:spPr>
          <a:xfrm>
            <a:off x="5806440" y="4791456"/>
            <a:ext cx="822960" cy="109728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/>
        </p:spPr>
      </p:sp>
      <p:sp>
        <p:nvSpPr>
          <p:cNvPr id="66" name="Shape 58"/>
          <p:cNvSpPr/>
          <p:nvPr/>
        </p:nvSpPr>
        <p:spPr>
          <a:xfrm>
            <a:off x="5806440" y="4791456"/>
            <a:ext cx="12344" cy="109728"/>
          </a:xfrm>
          <a:prstGeom prst="roundRect">
            <a:avLst>
              <a:gd name="adj" fmla="val 296306"/>
            </a:avLst>
          </a:prstGeom>
          <a:solidFill>
            <a:srgbClr val="A78BFA"/>
          </a:solidFill>
          <a:ln/>
        </p:spPr>
      </p:sp>
      <p:sp>
        <p:nvSpPr>
          <p:cNvPr id="67" name="Shape 59"/>
          <p:cNvSpPr/>
          <p:nvPr/>
        </p:nvSpPr>
        <p:spPr>
          <a:xfrm>
            <a:off x="6949440" y="685800"/>
            <a:ext cx="1883664" cy="4114800"/>
          </a:xfrm>
          <a:prstGeom prst="roundRect">
            <a:avLst>
              <a:gd name="adj" fmla="val 5825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8" name="Text 60"/>
          <p:cNvSpPr/>
          <p:nvPr/>
        </p:nvSpPr>
        <p:spPr>
          <a:xfrm>
            <a:off x="6967728" y="749808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Info</a:t>
            </a:r>
            <a:endParaRPr lang="en-US" sz="850" dirty="0"/>
          </a:p>
        </p:txBody>
      </p:sp>
      <p:sp>
        <p:nvSpPr>
          <p:cNvPr id="69" name="Shape 61"/>
          <p:cNvSpPr/>
          <p:nvPr/>
        </p:nvSpPr>
        <p:spPr>
          <a:xfrm>
            <a:off x="6995160" y="1078992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312" y="1152144"/>
            <a:ext cx="256032" cy="256032"/>
          </a:xfrm>
          <a:prstGeom prst="rect">
            <a:avLst/>
          </a:prstGeom>
        </p:spPr>
      </p:pic>
      <p:sp>
        <p:nvSpPr>
          <p:cNvPr id="71" name="Text 62"/>
          <p:cNvSpPr/>
          <p:nvPr/>
        </p:nvSpPr>
        <p:spPr>
          <a:xfrm>
            <a:off x="7370064" y="11521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72" name="Text 63"/>
          <p:cNvSpPr/>
          <p:nvPr/>
        </p:nvSpPr>
        <p:spPr>
          <a:xfrm>
            <a:off x="7022592" y="1444752"/>
            <a:ext cx="1719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concentric spots on older leaves. Starts from lower foliage.</a:t>
            </a:r>
            <a:endParaRPr lang="en-US" sz="800" dirty="0"/>
          </a:p>
        </p:txBody>
      </p:sp>
      <p:sp>
        <p:nvSpPr>
          <p:cNvPr id="73" name="Shape 64"/>
          <p:cNvSpPr/>
          <p:nvPr/>
        </p:nvSpPr>
        <p:spPr>
          <a:xfrm>
            <a:off x="6995160" y="2267712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312" y="2340864"/>
            <a:ext cx="256032" cy="256032"/>
          </a:xfrm>
          <a:prstGeom prst="rect">
            <a:avLst/>
          </a:prstGeom>
        </p:spPr>
      </p:pic>
      <p:sp>
        <p:nvSpPr>
          <p:cNvPr id="75" name="Text 65"/>
          <p:cNvSpPr/>
          <p:nvPr/>
        </p:nvSpPr>
        <p:spPr>
          <a:xfrm>
            <a:off x="7370064" y="234086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76" name="Text 66"/>
          <p:cNvSpPr/>
          <p:nvPr/>
        </p:nvSpPr>
        <p:spPr>
          <a:xfrm>
            <a:off x="7022592" y="2633472"/>
            <a:ext cx="1719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fungicide &amp; improve air circulation around plants.</a:t>
            </a:r>
            <a:endParaRPr lang="en-US" sz="800" dirty="0"/>
          </a:p>
        </p:txBody>
      </p:sp>
      <p:sp>
        <p:nvSpPr>
          <p:cNvPr id="77" name="Shape 67"/>
          <p:cNvSpPr/>
          <p:nvPr/>
        </p:nvSpPr>
        <p:spPr>
          <a:xfrm>
            <a:off x="6995160" y="3456432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7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8312" y="3529584"/>
            <a:ext cx="256032" cy="256032"/>
          </a:xfrm>
          <a:prstGeom prst="rect">
            <a:avLst/>
          </a:prstGeom>
        </p:spPr>
      </p:pic>
      <p:sp>
        <p:nvSpPr>
          <p:cNvPr id="79" name="Text 68"/>
          <p:cNvSpPr/>
          <p:nvPr/>
        </p:nvSpPr>
        <p:spPr>
          <a:xfrm>
            <a:off x="7370064" y="352958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900" dirty="0"/>
          </a:p>
        </p:txBody>
      </p:sp>
      <p:sp>
        <p:nvSpPr>
          <p:cNvPr id="80" name="Text 69"/>
          <p:cNvSpPr/>
          <p:nvPr/>
        </p:nvSpPr>
        <p:spPr>
          <a:xfrm>
            <a:off x="7022592" y="3822192"/>
            <a:ext cx="1719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rotation, remove infected debris, keep foliage dry.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3474720"/>
            <a:ext cx="3200400" cy="320040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560320" cy="256032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1554480" cy="274320"/>
          </a:xfrm>
          <a:prstGeom prst="roundRect">
            <a:avLst>
              <a:gd name="adj" fmla="val 23333"/>
            </a:avLst>
          </a:prstGeom>
          <a:solidFill>
            <a:srgbClr val="A3E635">
              <a:alpha val="20000"/>
            </a:srgbClr>
          </a:solidFill>
          <a:ln w="10160">
            <a:solidFill>
              <a:srgbClr val="A3E6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COVERAGE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Disease Classes Detected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3502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6B6B">
              <a:alpha val="28000"/>
            </a:srgbClr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3502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75488" y="155448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Bacterial Spot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56816" y="126187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133502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A3E635">
              <a:alpha val="28000"/>
            </a:srgbClr>
          </a:solidFill>
          <a:ln w="6350">
            <a:solidFill>
              <a:srgbClr val="A3E6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133502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048256" y="155448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Healthy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29584" y="126187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02736" y="133502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D166">
              <a:alpha val="28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33502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621024" y="155448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Early Blight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199339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06654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D166">
              <a:alpha val="28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6654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75488" y="228600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Late Blight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56816" y="199339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29968" y="206654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A3E635">
              <a:alpha val="28000"/>
            </a:srgbClr>
          </a:solidFill>
          <a:ln w="6350">
            <a:solidFill>
              <a:srgbClr val="A3E6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29968" y="206654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048256" y="228600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Healthy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29584" y="199339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02736" y="206654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6B6B">
              <a:alpha val="28000"/>
            </a:srgbClr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206654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3621024" y="228600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Bacterial Spot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" y="272491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279806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D166">
              <a:alpha val="28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79806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75488" y="30175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Early Blight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56816" y="272491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29968" y="279806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D166">
              <a:alpha val="28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9968" y="279806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048256" y="30175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Late Blight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29584" y="272491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02736" y="279806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D166">
              <a:alpha val="28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02736" y="279806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621024" y="30175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Leaf Mold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4048" y="345643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352958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D166">
              <a:alpha val="28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529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75488" y="374904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Septoria Spot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956816" y="345643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029968" y="352958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A78BFA">
              <a:alpha val="28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29968" y="3529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048256" y="374904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Spider Mites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29584" y="345643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602736" y="352958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D166">
              <a:alpha val="28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02736" y="3529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3621024" y="374904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Target Spot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4048" y="418795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57200" y="426110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00B4D8">
              <a:alpha val="28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26110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75488" y="448056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Yellow Leaf Curl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956816" y="418795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029968" y="426110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00B4D8">
              <a:alpha val="28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29968" y="426110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048256" y="448056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Mosaic Virus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529584" y="4187952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602736" y="426110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A3E635">
              <a:alpha val="28000"/>
            </a:srgbClr>
          </a:solidFill>
          <a:ln w="6350">
            <a:solidFill>
              <a:srgbClr val="A3E6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02736" y="426110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3621024" y="448056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Healthy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20640" y="5669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5074920" y="96012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72A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6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792" y="1060704"/>
            <a:ext cx="310896" cy="310896"/>
          </a:xfrm>
          <a:prstGeom prst="rect">
            <a:avLst/>
          </a:prstGeom>
        </p:spPr>
      </p:pic>
      <p:sp>
        <p:nvSpPr>
          <p:cNvPr id="70" name="Text 67"/>
          <p:cNvSpPr/>
          <p:nvPr/>
        </p:nvSpPr>
        <p:spPr>
          <a:xfrm>
            <a:off x="5596128" y="10149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5596128" y="12435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inference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5074920" y="1581912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72A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7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1682496"/>
            <a:ext cx="310896" cy="310896"/>
          </a:xfrm>
          <a:prstGeom prst="rect">
            <a:avLst/>
          </a:prstGeom>
        </p:spPr>
      </p:pic>
      <p:sp>
        <p:nvSpPr>
          <p:cNvPr id="74" name="Text 70"/>
          <p:cNvSpPr/>
          <p:nvPr/>
        </p:nvSpPr>
        <p:spPr>
          <a:xfrm>
            <a:off x="5596128" y="16367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75" name="Text 71"/>
          <p:cNvSpPr/>
          <p:nvPr/>
        </p:nvSpPr>
        <p:spPr>
          <a:xfrm>
            <a:off x="5596128" y="18653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</a:t>
            </a:r>
            <a:endParaRPr lang="en-US" sz="900" dirty="0"/>
          </a:p>
        </p:txBody>
      </p:sp>
      <p:sp>
        <p:nvSpPr>
          <p:cNvPr id="76" name="Shape 72"/>
          <p:cNvSpPr/>
          <p:nvPr/>
        </p:nvSpPr>
        <p:spPr>
          <a:xfrm>
            <a:off x="5074920" y="2203704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72A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7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304288"/>
            <a:ext cx="310896" cy="310896"/>
          </a:xfrm>
          <a:prstGeom prst="rect">
            <a:avLst/>
          </a:prstGeom>
        </p:spPr>
      </p:pic>
      <p:sp>
        <p:nvSpPr>
          <p:cNvPr id="78" name="Text 73"/>
          <p:cNvSpPr/>
          <p:nvPr/>
        </p:nvSpPr>
        <p:spPr>
          <a:xfrm>
            <a:off x="5596128" y="2258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+ PIL</a:t>
            </a:r>
            <a:endParaRPr lang="en-US" sz="1100" dirty="0"/>
          </a:p>
        </p:txBody>
      </p:sp>
      <p:sp>
        <p:nvSpPr>
          <p:cNvPr id="79" name="Text 74"/>
          <p:cNvSpPr/>
          <p:nvPr/>
        </p:nvSpPr>
        <p:spPr>
          <a:xfrm>
            <a:off x="5596128" y="24871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pipeline</a:t>
            </a:r>
            <a:endParaRPr lang="en-US" sz="900" dirty="0"/>
          </a:p>
        </p:txBody>
      </p:sp>
      <p:sp>
        <p:nvSpPr>
          <p:cNvPr id="80" name="Shape 75"/>
          <p:cNvSpPr/>
          <p:nvPr/>
        </p:nvSpPr>
        <p:spPr>
          <a:xfrm>
            <a:off x="5074920" y="2825496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72A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8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926080"/>
            <a:ext cx="310896" cy="310896"/>
          </a:xfrm>
          <a:prstGeom prst="rect">
            <a:avLst/>
          </a:prstGeom>
        </p:spPr>
      </p:pic>
      <p:sp>
        <p:nvSpPr>
          <p:cNvPr id="82" name="Text 76"/>
          <p:cNvSpPr/>
          <p:nvPr/>
        </p:nvSpPr>
        <p:spPr>
          <a:xfrm>
            <a:off x="5596128" y="2880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disease_info.py</a:t>
            </a:r>
            <a:endParaRPr lang="en-US" sz="1100" dirty="0"/>
          </a:p>
        </p:txBody>
      </p:sp>
      <p:sp>
        <p:nvSpPr>
          <p:cNvPr id="83" name="Text 77"/>
          <p:cNvSpPr/>
          <p:nvPr/>
        </p:nvSpPr>
        <p:spPr>
          <a:xfrm>
            <a:off x="5596128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15-class treatment knowledge</a:t>
            </a:r>
            <a:endParaRPr lang="en-US" sz="900" dirty="0"/>
          </a:p>
        </p:txBody>
      </p:sp>
      <p:sp>
        <p:nvSpPr>
          <p:cNvPr id="84" name="Shape 78"/>
          <p:cNvSpPr/>
          <p:nvPr/>
        </p:nvSpPr>
        <p:spPr>
          <a:xfrm>
            <a:off x="5074920" y="3447288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72A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8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3547872"/>
            <a:ext cx="310896" cy="310896"/>
          </a:xfrm>
          <a:prstGeom prst="rect">
            <a:avLst/>
          </a:prstGeom>
        </p:spPr>
      </p:pic>
      <p:sp>
        <p:nvSpPr>
          <p:cNvPr id="86" name="Text 79"/>
          <p:cNvSpPr/>
          <p:nvPr/>
        </p:nvSpPr>
        <p:spPr>
          <a:xfrm>
            <a:off x="5596128" y="35021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plant_disease_model</a:t>
            </a:r>
            <a:endParaRPr lang="en-US" sz="1100" dirty="0"/>
          </a:p>
        </p:txBody>
      </p:sp>
      <p:sp>
        <p:nvSpPr>
          <p:cNvPr id="87" name="Text 80"/>
          <p:cNvSpPr/>
          <p:nvPr/>
        </p:nvSpPr>
        <p:spPr>
          <a:xfrm>
            <a:off x="5596128" y="3730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model — 95%+ accuracy</a:t>
            </a:r>
            <a:endParaRPr lang="en-US" sz="900" dirty="0"/>
          </a:p>
        </p:txBody>
      </p:sp>
      <p:sp>
        <p:nvSpPr>
          <p:cNvPr id="88" name="Text 81"/>
          <p:cNvSpPr/>
          <p:nvPr/>
        </p:nvSpPr>
        <p:spPr>
          <a:xfrm>
            <a:off x="5074920" y="4224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Breakdown</a:t>
            </a:r>
            <a:endParaRPr lang="en-US" sz="1100" dirty="0"/>
          </a:p>
        </p:txBody>
      </p:sp>
      <p:sp>
        <p:nvSpPr>
          <p:cNvPr id="89" name="Shape 82"/>
          <p:cNvSpPr/>
          <p:nvPr/>
        </p:nvSpPr>
        <p:spPr>
          <a:xfrm>
            <a:off x="5074920" y="4562856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0" name="Text 83"/>
          <p:cNvSpPr/>
          <p:nvPr/>
        </p:nvSpPr>
        <p:spPr>
          <a:xfrm>
            <a:off x="5221224" y="451713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(7)</a:t>
            </a:r>
            <a:endParaRPr lang="en-US" sz="750" dirty="0"/>
          </a:p>
        </p:txBody>
      </p:sp>
      <p:sp>
        <p:nvSpPr>
          <p:cNvPr id="91" name="Shape 84"/>
          <p:cNvSpPr/>
          <p:nvPr/>
        </p:nvSpPr>
        <p:spPr>
          <a:xfrm>
            <a:off x="6318504" y="4562856"/>
            <a:ext cx="109728" cy="109728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92" name="Text 85"/>
          <p:cNvSpPr/>
          <p:nvPr/>
        </p:nvSpPr>
        <p:spPr>
          <a:xfrm>
            <a:off x="6464808" y="451713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(3)</a:t>
            </a:r>
            <a:endParaRPr lang="en-US" sz="750" dirty="0"/>
          </a:p>
        </p:txBody>
      </p:sp>
      <p:sp>
        <p:nvSpPr>
          <p:cNvPr id="93" name="Shape 86"/>
          <p:cNvSpPr/>
          <p:nvPr/>
        </p:nvSpPr>
        <p:spPr>
          <a:xfrm>
            <a:off x="7562088" y="456285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4" name="Text 87"/>
          <p:cNvSpPr/>
          <p:nvPr/>
        </p:nvSpPr>
        <p:spPr>
          <a:xfrm>
            <a:off x="7708392" y="451713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(2)</a:t>
            </a:r>
            <a:endParaRPr lang="en-US" sz="750" dirty="0"/>
          </a:p>
        </p:txBody>
      </p:sp>
      <p:sp>
        <p:nvSpPr>
          <p:cNvPr id="95" name="Shape 88"/>
          <p:cNvSpPr/>
          <p:nvPr/>
        </p:nvSpPr>
        <p:spPr>
          <a:xfrm>
            <a:off x="5074920" y="480060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6" name="Text 89"/>
          <p:cNvSpPr/>
          <p:nvPr/>
        </p:nvSpPr>
        <p:spPr>
          <a:xfrm>
            <a:off x="5221224" y="475488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(2)</a:t>
            </a:r>
            <a:endParaRPr lang="en-US" sz="750" dirty="0"/>
          </a:p>
        </p:txBody>
      </p:sp>
      <p:sp>
        <p:nvSpPr>
          <p:cNvPr id="97" name="Shape 90"/>
          <p:cNvSpPr/>
          <p:nvPr/>
        </p:nvSpPr>
        <p:spPr>
          <a:xfrm>
            <a:off x="6318504" y="48006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8" name="Text 91"/>
          <p:cNvSpPr/>
          <p:nvPr/>
        </p:nvSpPr>
        <p:spPr>
          <a:xfrm>
            <a:off x="6464808" y="475488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(1)</a:t>
            </a:r>
            <a:endParaRPr lang="en-US" sz="750" dirty="0"/>
          </a:p>
        </p:txBody>
      </p:sp>
      <p:graphicFrame>
        <p:nvGraphicFramePr>
          <p:cNvPr id="99" name="Chart 0" descr=""/>
          <p:cNvGraphicFramePr/>
          <p:nvPr/>
        </p:nvGraphicFramePr>
        <p:xfrm>
          <a:off x="6903720" y="3749040"/>
          <a:ext cx="192024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Plant Disease Detection</dc:title>
  <dc:subject>PptxGenJS Presentation</dc:subject>
  <dc:creator>PptxGenJS</dc:creator>
  <cp:lastModifiedBy>PptxGenJS</cp:lastModifiedBy>
  <cp:revision>1</cp:revision>
  <dcterms:created xsi:type="dcterms:W3CDTF">2026-06-24T04:08:57Z</dcterms:created>
  <dcterms:modified xsi:type="dcterms:W3CDTF">2026-06-24T04:08:57Z</dcterms:modified>
</cp:coreProperties>
</file>